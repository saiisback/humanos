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c76208b9d74be4" /><Relationship Type="http://schemas.openxmlformats.org/officeDocument/2006/relationships/extended-properties" Target="/docProps/app.xml" Id="R995e7370f2de4011" /><Relationship Type="http://schemas.openxmlformats.org/officeDocument/2006/relationships/officeDocument" Target="/ppt/presentation.xml" Id="Rc8d4b3de8a0748b8" /></Relationships>
</file>

<file path=ppt/presentation.xml><?xml version="1.0" encoding="utf-8"?>
<p:presentation xmlns:p="http://schemas.openxmlformats.org/presentationml/2006/main">
  <p:sldMasterIdLst>
    <p:sldMasterId xmlns:r="http://schemas.openxmlformats.org/officeDocument/2006/relationships" id="2147483648" r:id="Re58bc3ee71fb4192"/>
  </p:sldMasterIdLst>
  <p:notesMasterIdLst>
    <p:notesMasterId xmlns:r="http://schemas.openxmlformats.org/officeDocument/2006/relationships" r:id="Rd90dd796f5024150"/>
  </p:notesMasterIdLst>
  <p:sldIdLst>
    <p:sldId xmlns:r="http://schemas.openxmlformats.org/officeDocument/2006/relationships" id="256" r:id="R2c3d5407610d4a5e"/>
    <p:sldId xmlns:r="http://schemas.openxmlformats.org/officeDocument/2006/relationships" id="257" r:id="R2a670b135f1b48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54f14b42a94292" /><Relationship Type="http://schemas.openxmlformats.org/officeDocument/2006/relationships/slideMaster" Target="/ppt/slideMasters/slideMaster1.xml" Id="Re58bc3ee71fb4192" /><Relationship Type="http://schemas.openxmlformats.org/officeDocument/2006/relationships/notesMaster" Target="/ppt/notesMasters/notesMaster1.xml" Id="Rd90dd796f5024150" /><Relationship Type="http://schemas.openxmlformats.org/officeDocument/2006/relationships/presProps" Target="/ppt/presProps.xml" Id="Rd382eafa73194a9e" /><Relationship Type="http://schemas.openxmlformats.org/officeDocument/2006/relationships/tableStyles" Target="/ppt/tableStyles.xml" Id="Rcfbd16107d094f6a" /><Relationship Type="http://schemas.openxmlformats.org/officeDocument/2006/relationships/slide" Target="/ppt/slides/slide1.xml" Id="R2c3d5407610d4a5e" /><Relationship Type="http://schemas.openxmlformats.org/officeDocument/2006/relationships/slide" Target="/ppt/slides/slide2.xml" Id="R2a670b135f1b48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46c4a97e5e46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a0cbc0847545f6" /><Relationship Type="http://schemas.openxmlformats.org/officeDocument/2006/relationships/notesMaster" Target="/ppt/notesMasters/notesMaster1.xml" Id="R85422691ce6e45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7274845f5b4b20" /><Relationship Type="http://schemas.openxmlformats.org/officeDocument/2006/relationships/notesMaster" Target="/ppt/notesMasters/notesMaster1.xml" Id="R6ee7115fb6714c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HumanOS is an agent harness for people who want useful automation without assembling an AI stack. Our intended positioning is a cost-conscious, approachable alternative in the agent-harness category, alongside tools such as Hermes. This is product positioning, not a measured competitive benchmark. We aim to reduce setup effort and model spending by reusing deterministic execution blocks. We have not established a universal monthly price or savings percentage.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evidence: docs/demo-three-requests-2026-09-27.md in the humanos-mcp worktree. Linear FIN-100: https://linear.app/fintrix-finance/issue/FIN-100/humanos-demo-test . Search agent registration: https://sepolia.etherscan.io/tx/0x8ee073b37d5cedee9a2196962ba243221467da45b1d8cb10663b8df54d185707 . Draft registration: https://sepolia.etherscan.io/tx/0x36d01cb6f2ea5845252b528a49a216b152269f28787dff7a2cb7b2597e9c2762 . Linear registration: https://sepolia.etherscan.io/tx/0xca80de2b3851fd20805847626c624f285e332d249bf62609dfbba4b37cd4c9da . ENS permissions restrict supported HumanOS execution and resolver editing. ENS does not directly control external services or guarantee truthful content. Search receipt publication failed and recovery is pending, so do not claim all actions are onchain.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f3323074e141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6a461515754657" /><Relationship Type="http://schemas.openxmlformats.org/officeDocument/2006/relationships/slideLayout" Target="/ppt/slideLayouts/slideLayout1.xml" Id="R70ea687a99f24e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ea687a99f24e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4cba6e5e814a4e" /><Relationship Type="http://schemas.openxmlformats.org/officeDocument/2006/relationships/image" Target="/ppt/media/image.png" Id="R381dee7043fa416e" /><Relationship Type="http://schemas.openxmlformats.org/officeDocument/2006/relationships/notesSlide" Target="/ppt/notesSlides/notesSlide1.xml" Id="Rdd07e37026dd49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c148200d9e44f3" /><Relationship Type="http://schemas.openxmlformats.org/officeDocument/2006/relationships/notesSlide" Target="/ppt/notesSlides/notesSlide2.xml" Id="R13d32590ac524e4b" /></Relationships>
</file>

<file path=ppt/slides/slide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222BCA-0B3B-4BDA-AD43-3057326D5932}"/>
              </a:ext>
            </a:extLst>
          </p:cNvPr>
          <p:cNvSpPr>
            <a:spLocks xmlns:a="http://schemas.openxmlformats.org/drawingml/2006/main" noGrp="1"/>
          </p:cNvSpPr>
          <p:nvPr/>
        </p:nvSpPr>
        <p:spPr>
          <a:xfrm xmlns:a="http://schemas.openxmlformats.org/drawingml/2006/main">
            <a:off x="666750" y="552450"/>
            <a:ext cx="762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252B28"/>
                </a:solidFill>
                <a:latin typeface="Helvetica Neue"/>
                <a:ea typeface="Helvetica Neue"/>
                <a:cs typeface="Helvetica Neue"/>
              </a:defRPr>
            </a:pPr>
            <a:r>
              <a:rPr sz="6000" b="1">
                <a:solidFill>
                  <a:srgbClr val="252B28"/>
                </a:solidFill>
                <a:latin typeface="Helvetica Neue"/>
                <a:ea typeface="Helvetica Neue"/>
                <a:cs typeface="Helvetica Neue"/>
              </a:rPr>
              <a:t>HumanOS</a:t>
            </a:r>
          </a:p>
        </p:txBody>
      </p:sp>
      <p:sp>
        <p:nvSpPr>
          <p:cNvPr id="2" name="">
            <a:extLst xmlns:a="http://schemas.openxmlformats.org/drawingml/2006/main">
              <a:ext uri="{FF2B5EF4-FFF2-40B4-BE49-F238E27FC236}">
                <a16:creationId xmlns:a16="http://schemas.microsoft.com/office/drawing/2014/main" id="{444F9DE0-53F1-4D24-ABC5-7267EDDAB7D9}"/>
              </a:ext>
            </a:extLst>
          </p:cNvPr>
          <p:cNvSpPr>
            <a:spLocks xmlns:a="http://schemas.openxmlformats.org/drawingml/2006/main" noGrp="1"/>
          </p:cNvSpPr>
          <p:nvPr/>
        </p:nvSpPr>
        <p:spPr>
          <a:xfrm xmlns:a="http://schemas.openxmlformats.org/drawingml/2006/main">
            <a:off x="666750" y="19812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52B28"/>
                </a:solidFill>
                <a:latin typeface="Helvetica Neue"/>
                <a:ea typeface="Helvetica Neue"/>
                <a:cs typeface="Helvetica Neue"/>
              </a:defRPr>
            </a:pPr>
            <a:r>
              <a:rPr sz="3600" b="1">
                <a:solidFill>
                  <a:srgbClr val="252B28"/>
                </a:solidFill>
                <a:latin typeface="Helvetica Neue"/>
                <a:ea typeface="Helvetica Neue"/>
                <a:cs typeface="Helvetica Neue"/>
              </a:rPr>
              <a:t>AI automation for people</a:t>
            </a:r>
          </a:p>
          <a:p xmlns:a="http://schemas.openxmlformats.org/drawingml/2006/main">
            <a:pPr>
              <a:defRPr sz="3600" b="1">
                <a:solidFill>
                  <a:srgbClr val="252B28"/>
                </a:solidFill>
                <a:latin typeface="Helvetica Neue"/>
                <a:ea typeface="Helvetica Neue"/>
                <a:cs typeface="Helvetica Neue"/>
              </a:defRPr>
            </a:pPr>
            <a:r>
              <a:rPr sz="3600" b="1">
                <a:solidFill>
                  <a:srgbClr val="252B28"/>
                </a:solidFill>
                <a:latin typeface="Helvetica Neue"/>
                <a:ea typeface="Helvetica Neue"/>
                <a:cs typeface="Helvetica Neue"/>
              </a:rPr>
              <a:t>who don’t build automations</a:t>
            </a:r>
          </a:p>
        </p:txBody>
      </p:sp>
      <p:sp>
        <p:nvSpPr>
          <p:cNvPr id="3" name="">
            <a:extLst xmlns:a="http://schemas.openxmlformats.org/drawingml/2006/main">
              <a:ext uri="{FF2B5EF4-FFF2-40B4-BE49-F238E27FC236}">
                <a16:creationId xmlns:a16="http://schemas.microsoft.com/office/drawing/2014/main" id="{9EA8A48A-610C-4168-B50B-85B467CE12CF}"/>
              </a:ext>
            </a:extLst>
          </p:cNvPr>
          <p:cNvSpPr>
            <a:spLocks xmlns:a="http://schemas.openxmlformats.org/drawingml/2006/main" noGrp="1"/>
          </p:cNvSpPr>
          <p:nvPr/>
        </p:nvSpPr>
        <p:spPr>
          <a:xfrm xmlns:a="http://schemas.openxmlformats.org/drawingml/2006/main">
            <a:off x="666750" y="3857625"/>
            <a:ext cx="7620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52B28"/>
                </a:solidFill>
                <a:latin typeface="Helvetica Neue"/>
                <a:ea typeface="Helvetica Neue"/>
                <a:cs typeface="Helvetica Neue"/>
              </a:defRPr>
            </a:pPr>
            <a:r>
              <a:rPr sz="2175" b="0">
                <a:solidFill>
                  <a:srgbClr val="252B28"/>
                </a:solidFill>
                <a:latin typeface="Helvetica Neue"/>
                <a:ea typeface="Helvetica Neue"/>
                <a:cs typeface="Helvetica Neue"/>
              </a:rPr>
              <a:t>Describe a task in everyday language.</a:t>
            </a:r>
          </a:p>
          <a:p xmlns:a="http://schemas.openxmlformats.org/drawingml/2006/main">
            <a:pPr>
              <a:defRPr sz="2175" b="0">
                <a:solidFill>
                  <a:srgbClr val="252B28"/>
                </a:solidFill>
                <a:latin typeface="Helvetica Neue"/>
                <a:ea typeface="Helvetica Neue"/>
                <a:cs typeface="Helvetica Neue"/>
              </a:defRPr>
            </a:pPr>
            <a:r>
              <a:rPr sz="2175" b="0">
                <a:solidFill>
                  <a:srgbClr val="252B28"/>
                </a:solidFill>
                <a:latin typeface="Helvetica Neue"/>
                <a:ea typeface="Helvetica Neue"/>
                <a:cs typeface="Helvetica Neue"/>
              </a:rPr>
              <a:t>Save the workflow. Run connected tools.</a:t>
            </a:r>
          </a:p>
          <a:p xmlns:a="http://schemas.openxmlformats.org/drawingml/2006/main">
            <a:pPr>
              <a:defRPr sz="2175" b="0">
                <a:solidFill>
                  <a:srgbClr val="252B28"/>
                </a:solidFill>
                <a:latin typeface="Helvetica Neue"/>
                <a:ea typeface="Helvetica Neue"/>
                <a:cs typeface="Helvetica Neue"/>
              </a:defRPr>
            </a:pPr>
            <a:r>
              <a:rPr sz="2175" b="0">
                <a:solidFill>
                  <a:srgbClr val="252B28"/>
                </a:solidFill>
                <a:latin typeface="Helvetica Neue"/>
                <a:ea typeface="Helvetica Neue"/>
                <a:cs typeface="Helvetica Neue"/>
              </a:rPr>
              <a:t>Keep the final say on external actions.</a:t>
            </a:r>
          </a:p>
        </p:txBody>
      </p:sp>
      <p:sp>
        <p:nvSpPr>
          <p:cNvPr id="4" name="">
            <a:extLst xmlns:a="http://schemas.openxmlformats.org/drawingml/2006/main">
              <a:ext uri="{FF2B5EF4-FFF2-40B4-BE49-F238E27FC236}">
                <a16:creationId xmlns:a16="http://schemas.microsoft.com/office/drawing/2014/main" id="{C0E86A82-EBAA-4100-B3C2-CC160FB75501}"/>
              </a:ext>
            </a:extLst>
          </p:cNvPr>
          <p:cNvSpPr>
            <a:spLocks xmlns:a="http://schemas.openxmlformats.org/drawingml/2006/main" noGrp="1"/>
          </p:cNvSpPr>
          <p:nvPr/>
        </p:nvSpPr>
        <p:spPr>
          <a:xfrm xmlns:a="http://schemas.openxmlformats.org/drawingml/2006/main">
            <a:off x="666750" y="586740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645C"/>
                </a:solidFill>
                <a:latin typeface="Helvetica Neue"/>
                <a:ea typeface="Helvetica Neue"/>
                <a:cs typeface="Helvetica Neue"/>
              </a:defRPr>
            </a:pPr>
            <a:r>
              <a:rPr sz="1800" b="0">
                <a:solidFill>
                  <a:srgbClr val="54645C"/>
                </a:solidFill>
                <a:latin typeface="Helvetica Neue"/>
                <a:ea typeface="Helvetica Neue"/>
                <a:cs typeface="Helvetica Neue"/>
              </a:rPr>
              <a:t>Our goal: lower the technical barrier and the cost of everyday AI work</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81dee7043fa416e"/>
          <a:stretch xmlns:a="http://schemas.openxmlformats.org/drawingml/2006/main"/>
        </p:blipFill>
        <p:spPr>
          <a:xfrm xmlns:a="http://schemas.openxmlformats.org/drawingml/2006/main">
            <a:off x="9220200" y="685800"/>
            <a:ext cx="2143125" cy="2143125"/>
          </a:xfrm>
          <a:prstGeom xmlns:a="http://schemas.openxmlformats.org/drawingml/2006/main" prst="rect">
            <a:avLst/>
          </a:prstGeom>
        </p:spPr>
      </p:pic>
    </p:spTree>
    <p:extLst>
      <p:ext uri="{BB962C8B-B14F-4D97-AF65-F5344CB8AC3E}">
        <p14:creationId xmlns:p14="http://schemas.microsoft.com/office/powerpoint/2010/main" val="1704578264"/>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28BC4B9-0E52-4F7F-B99E-F8CDD8469510}"/>
              </a:ext>
            </a:extLst>
          </p:cNvPr>
          <p:cNvSpPr>
            <a:spLocks xmlns:a="http://schemas.openxmlformats.org/drawingml/2006/main" noGrp="1"/>
          </p:cNvSpPr>
          <p:nvPr/>
        </p:nvSpPr>
        <p:spPr>
          <a:xfrm xmlns:a="http://schemas.openxmlformats.org/drawingml/2006/main">
            <a:off x="666750" y="52387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52B28"/>
                </a:solidFill>
                <a:latin typeface="Helvetica Neue"/>
                <a:ea typeface="Helvetica Neue"/>
                <a:cs typeface="Helvetica Neue"/>
              </a:defRPr>
            </a:pPr>
            <a:r>
              <a:rPr sz="3525" b="1">
                <a:solidFill>
                  <a:srgbClr val="252B28"/>
                </a:solidFill>
                <a:latin typeface="Helvetica Neue"/>
                <a:ea typeface="Helvetica Neue"/>
                <a:cs typeface="Helvetica Neue"/>
              </a:rPr>
              <a:t>How HumanOS reduces model work</a:t>
            </a:r>
          </a:p>
        </p:txBody>
      </p:sp>
      <p:sp>
        <p:nvSpPr>
          <p:cNvPr id="2" name="">
            <a:extLst xmlns:a="http://schemas.openxmlformats.org/drawingml/2006/main">
              <a:ext uri="{FF2B5EF4-FFF2-40B4-BE49-F238E27FC236}">
                <a16:creationId xmlns:a16="http://schemas.microsoft.com/office/drawing/2014/main" id="{3D6B3E59-E70C-4357-A708-8EE286BECF03}"/>
              </a:ext>
            </a:extLst>
          </p:cNvPr>
          <p:cNvSpPr>
            <a:spLocks xmlns:a="http://schemas.openxmlformats.org/drawingml/2006/main" noGrp="1"/>
          </p:cNvSpPr>
          <p:nvPr/>
        </p:nvSpPr>
        <p:spPr>
          <a:xfrm xmlns:a="http://schemas.openxmlformats.org/drawingml/2006/main">
            <a:off x="666750" y="17145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456953"/>
                </a:solidFill>
                <a:latin typeface="Helvetica Neue"/>
                <a:ea typeface="Helvetica Neue"/>
                <a:cs typeface="Helvetica Neue"/>
              </a:defRPr>
            </a:pPr>
            <a:r>
              <a:rPr sz="2250" b="1">
                <a:solidFill>
                  <a:srgbClr val="456953"/>
                </a:solidFill>
                <a:latin typeface="Helvetica Neue"/>
                <a:ea typeface="Helvetica Neue"/>
                <a:cs typeface="Helvetica Neue"/>
              </a:rPr>
              <a:t>Execution</a:t>
            </a:r>
          </a:p>
        </p:txBody>
      </p:sp>
      <p:sp>
        <p:nvSpPr>
          <p:cNvPr id="3" name="">
            <a:extLst xmlns:a="http://schemas.openxmlformats.org/drawingml/2006/main">
              <a:ext uri="{FF2B5EF4-FFF2-40B4-BE49-F238E27FC236}">
                <a16:creationId xmlns:a16="http://schemas.microsoft.com/office/drawing/2014/main" id="{2C7F25A1-FDF6-4C25-9412-590D7C7C4C4A}"/>
              </a:ext>
            </a:extLst>
          </p:cNvPr>
          <p:cNvSpPr>
            <a:spLocks xmlns:a="http://schemas.openxmlformats.org/drawingml/2006/main" noGrp="1"/>
          </p:cNvSpPr>
          <p:nvPr/>
        </p:nvSpPr>
        <p:spPr>
          <a:xfrm xmlns:a="http://schemas.openxmlformats.org/drawingml/2006/main">
            <a:off x="666750" y="2333625"/>
            <a:ext cx="5095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52B28"/>
                </a:solidFill>
                <a:latin typeface="Helvetica Neue"/>
                <a:ea typeface="Helvetica Neue"/>
                <a:cs typeface="Helvetica Neue"/>
              </a:defRPr>
            </a:pPr>
            <a:r>
              <a:rPr sz="2025" b="0">
                <a:solidFill>
                  <a:srgbClr val="252B28"/>
                </a:solidFill>
                <a:latin typeface="Helvetica Neue"/>
                <a:ea typeface="Helvetica Neue"/>
                <a:cs typeface="Helvetica Neue"/>
              </a:rPr>
              <a:t>Jev evaluates permitted workflow blocks.</a:t>
            </a:r>
          </a:p>
          <a:p xmlns:a="http://schemas.openxmlformats.org/drawingml/2006/main">
            <a:pPr>
              <a:defRPr sz="2025" b="0">
                <a:solidFill>
                  <a:srgbClr val="252B28"/>
                </a:solidFill>
                <a:latin typeface="Helvetica Neue"/>
                <a:ea typeface="Helvetica Neue"/>
                <a:cs typeface="Helvetica Neue"/>
              </a:defRPr>
            </a:pPr>
            <a:r>
              <a:rPr sz="2025" b="0">
                <a:solidFill>
                  <a:srgbClr val="252B28"/>
                </a:solidFill>
                <a:latin typeface="Helvetica Neue"/>
                <a:ea typeface="Helvetica Neue"/>
                <a:cs typeface="Helvetica Neue"/>
              </a:rPr>
              <a:t>Deterministic connectors execute the steps.</a:t>
            </a:r>
          </a:p>
          <a:p xmlns:a="http://schemas.openxmlformats.org/drawingml/2006/main">
            <a:pPr>
              <a:defRPr sz="2025" b="0">
                <a:solidFill>
                  <a:srgbClr val="252B28"/>
                </a:solidFill>
                <a:latin typeface="Helvetica Neue"/>
                <a:ea typeface="Helvetica Neue"/>
                <a:cs typeface="Helvetica Neue"/>
              </a:defRPr>
            </a:pPr>
            <a:r>
              <a:rPr sz="2025" b="0">
                <a:solidFill>
                  <a:srgbClr val="252B28"/>
                </a:solidFill>
                <a:latin typeface="Helvetica Neue"/>
                <a:ea typeface="Helvetica Neue"/>
                <a:cs typeface="Helvetica Neue"/>
              </a:rPr>
              <a:t>DeepSeek generates the content.</a:t>
            </a:r>
          </a:p>
        </p:txBody>
      </p:sp>
      <p:sp>
        <p:nvSpPr>
          <p:cNvPr id="4" name="">
            <a:extLst xmlns:a="http://schemas.openxmlformats.org/drawingml/2006/main">
              <a:ext uri="{FF2B5EF4-FFF2-40B4-BE49-F238E27FC236}">
                <a16:creationId xmlns:a16="http://schemas.microsoft.com/office/drawing/2014/main" id="{EFD35B2C-8BD0-4D86-ABFB-257462B7DE1B}"/>
              </a:ext>
            </a:extLst>
          </p:cNvPr>
          <p:cNvSpPr>
            <a:spLocks xmlns:a="http://schemas.openxmlformats.org/drawingml/2006/main" noGrp="1"/>
          </p:cNvSpPr>
          <p:nvPr/>
        </p:nvSpPr>
        <p:spPr>
          <a:xfrm xmlns:a="http://schemas.openxmlformats.org/drawingml/2006/main">
            <a:off x="666750" y="419100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B28"/>
                </a:solidFill>
                <a:latin typeface="Helvetica Neue"/>
                <a:ea typeface="Helvetica Neue"/>
                <a:cs typeface="Helvetica Neue"/>
              </a:defRPr>
            </a:pPr>
            <a:r>
              <a:rPr sz="1950" b="0">
                <a:solidFill>
                  <a:srgbClr val="252B28"/>
                </a:solidFill>
                <a:latin typeface="Helvetica Neue"/>
                <a:ea typeface="Helvetica Neue"/>
                <a:cs typeface="Helvetica Neue"/>
              </a:rPr>
              <a:t>Saved workflows reuse that structure.</a:t>
            </a:r>
          </a:p>
          <a:p xmlns:a="http://schemas.openxmlformats.org/drawingml/2006/main">
            <a:pPr>
              <a:defRPr sz="1950" b="0">
                <a:solidFill>
                  <a:srgbClr val="252B28"/>
                </a:solidFill>
                <a:latin typeface="Helvetica Neue"/>
                <a:ea typeface="Helvetica Neue"/>
                <a:cs typeface="Helvetica Neue"/>
              </a:defRPr>
            </a:pPr>
            <a:r>
              <a:rPr sz="1950" b="0">
                <a:solidFill>
                  <a:srgbClr val="252B28"/>
                </a:solidFill>
                <a:latin typeface="Helvetica Neue"/>
                <a:ea typeface="Helvetica Neue"/>
                <a:cs typeface="Helvetica Neue"/>
              </a:rPr>
              <a:t>Usage reporting makes model spend visible.</a:t>
            </a:r>
          </a:p>
        </p:txBody>
      </p:sp>
      <p:sp>
        <p:nvSpPr>
          <p:cNvPr id="5" name="">
            <a:extLst xmlns:a="http://schemas.openxmlformats.org/drawingml/2006/main">
              <a:ext uri="{FF2B5EF4-FFF2-40B4-BE49-F238E27FC236}">
                <a16:creationId xmlns:a16="http://schemas.microsoft.com/office/drawing/2014/main" id="{CF9B254C-B28D-4E5D-81CC-F1A7DBC2078C}"/>
              </a:ext>
            </a:extLst>
          </p:cNvPr>
          <p:cNvSpPr>
            <a:spLocks xmlns:a="http://schemas.openxmlformats.org/drawingml/2006/main" noGrp="1"/>
          </p:cNvSpPr>
          <p:nvPr/>
        </p:nvSpPr>
        <p:spPr>
          <a:xfrm xmlns:a="http://schemas.openxmlformats.org/drawingml/2006/main">
            <a:off x="6572250" y="17145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456953"/>
                </a:solidFill>
                <a:latin typeface="Helvetica Neue"/>
                <a:ea typeface="Helvetica Neue"/>
                <a:cs typeface="Helvetica Neue"/>
              </a:defRPr>
            </a:pPr>
            <a:r>
              <a:rPr sz="2250" b="1">
                <a:solidFill>
                  <a:srgbClr val="456953"/>
                </a:solidFill>
                <a:latin typeface="Helvetica Neue"/>
                <a:ea typeface="Helvetica Neue"/>
                <a:cs typeface="Helvetica Neue"/>
              </a:rPr>
              <a:t>Accountability</a:t>
            </a:r>
          </a:p>
        </p:txBody>
      </p:sp>
      <p:sp>
        <p:nvSpPr>
          <p:cNvPr id="6" name="">
            <a:extLst xmlns:a="http://schemas.openxmlformats.org/drawingml/2006/main">
              <a:ext uri="{FF2B5EF4-FFF2-40B4-BE49-F238E27FC236}">
                <a16:creationId xmlns:a16="http://schemas.microsoft.com/office/drawing/2014/main" id="{152E239C-3F22-4447-8530-A930D356FBCC}"/>
              </a:ext>
            </a:extLst>
          </p:cNvPr>
          <p:cNvSpPr>
            <a:spLocks xmlns:a="http://schemas.openxmlformats.org/drawingml/2006/main" noGrp="1"/>
          </p:cNvSpPr>
          <p:nvPr/>
        </p:nvSpPr>
        <p:spPr>
          <a:xfrm xmlns:a="http://schemas.openxmlformats.org/drawingml/2006/main">
            <a:off x="6572250" y="2333625"/>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52B28"/>
                </a:solidFill>
                <a:latin typeface="Helvetica Neue"/>
                <a:ea typeface="Helvetica Neue"/>
                <a:cs typeface="Helvetica Neue"/>
              </a:defRPr>
            </a:pPr>
            <a:r>
              <a:rPr sz="2025" b="0">
                <a:solidFill>
                  <a:srgbClr val="252B28"/>
                </a:solidFill>
                <a:latin typeface="Helvetica Neue"/>
                <a:ea typeface="Helvetica Neue"/>
                <a:cs typeface="Helvetica Neue"/>
              </a:rPr>
              <a:t>ENSv2 gives each agent a name.</a:t>
            </a:r>
          </a:p>
          <a:p xmlns:a="http://schemas.openxmlformats.org/drawingml/2006/main">
            <a:pPr>
              <a:defRPr sz="2025" b="0">
                <a:solidFill>
                  <a:srgbClr val="252B28"/>
                </a:solidFill>
                <a:latin typeface="Helvetica Neue"/>
                <a:ea typeface="Helvetica Neue"/>
                <a:cs typeface="Helvetica Neue"/>
              </a:defRPr>
            </a:pPr>
            <a:r>
              <a:rPr sz="2025" b="0">
                <a:solidFill>
                  <a:srgbClr val="252B28"/>
                </a:solidFill>
                <a:latin typeface="Helvetica Neue"/>
                <a:ea typeface="Helvetica Neue"/>
                <a:cs typeface="Helvetica Neue"/>
              </a:rPr>
              <a:t>Scope and expiry limit its authority.</a:t>
            </a:r>
          </a:p>
          <a:p xmlns:a="http://schemas.openxmlformats.org/drawingml/2006/main">
            <a:pPr>
              <a:defRPr sz="2025" b="0">
                <a:solidFill>
                  <a:srgbClr val="252B28"/>
                </a:solidFill>
                <a:latin typeface="Helvetica Neue"/>
                <a:ea typeface="Helvetica Neue"/>
                <a:cs typeface="Helvetica Neue"/>
              </a:defRPr>
            </a:pPr>
            <a:r>
              <a:rPr sz="2025" b="0">
                <a:solidFill>
                  <a:srgbClr val="252B28"/>
                </a:solidFill>
                <a:latin typeface="Helvetica Neue"/>
                <a:ea typeface="Helvetica Neue"/>
                <a:cs typeface="Helvetica Neue"/>
              </a:rPr>
              <a:t>HumanOS checks access before actions.</a:t>
            </a:r>
          </a:p>
        </p:txBody>
      </p:sp>
      <p:sp>
        <p:nvSpPr>
          <p:cNvPr id="7" name="">
            <a:extLst xmlns:a="http://schemas.openxmlformats.org/drawingml/2006/main">
              <a:ext uri="{FF2B5EF4-FFF2-40B4-BE49-F238E27FC236}">
                <a16:creationId xmlns:a16="http://schemas.microsoft.com/office/drawing/2014/main" id="{15E12F1C-1B8D-430E-9FB3-318971CEF6CB}"/>
              </a:ext>
            </a:extLst>
          </p:cNvPr>
          <p:cNvSpPr>
            <a:spLocks xmlns:a="http://schemas.openxmlformats.org/drawingml/2006/main" noGrp="1"/>
          </p:cNvSpPr>
          <p:nvPr/>
        </p:nvSpPr>
        <p:spPr>
          <a:xfrm xmlns:a="http://schemas.openxmlformats.org/drawingml/2006/main">
            <a:off x="6572250" y="41910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B28"/>
                </a:solidFill>
                <a:latin typeface="Helvetica Neue"/>
                <a:ea typeface="Helvetica Neue"/>
                <a:cs typeface="Helvetica Neue"/>
              </a:defRPr>
            </a:pPr>
            <a:r>
              <a:rPr sz="1950" b="0">
                <a:solidFill>
                  <a:srgbClr val="252B28"/>
                </a:solidFill>
                <a:latin typeface="Helvetica Neue"/>
                <a:ea typeface="Helvetica Neue"/>
                <a:cs typeface="Helvetica Neue"/>
              </a:rPr>
              <a:t>Receipts link execution to evidence.</a:t>
            </a:r>
          </a:p>
          <a:p xmlns:a="http://schemas.openxmlformats.org/drawingml/2006/main">
            <a:pPr>
              <a:defRPr sz="1950" b="0">
                <a:solidFill>
                  <a:srgbClr val="252B28"/>
                </a:solidFill>
                <a:latin typeface="Helvetica Neue"/>
                <a:ea typeface="Helvetica Neue"/>
                <a:cs typeface="Helvetica Neue"/>
              </a:defRPr>
            </a:pPr>
            <a:r>
              <a:rPr sz="1950" b="0">
                <a:solidFill>
                  <a:srgbClr val="252B28"/>
                </a:solidFill>
                <a:latin typeface="Helvetica Neue"/>
                <a:ea typeface="Helvetica Neue"/>
                <a:cs typeface="Helvetica Neue"/>
              </a:rPr>
              <a:t>Published hashes make changes detectable.</a:t>
            </a:r>
          </a:p>
        </p:txBody>
      </p:sp>
      <p:sp>
        <p:nvSpPr>
          <p:cNvPr id="8" name="">
            <a:extLst xmlns:a="http://schemas.openxmlformats.org/drawingml/2006/main">
              <a:ext uri="{FF2B5EF4-FFF2-40B4-BE49-F238E27FC236}">
                <a16:creationId xmlns:a16="http://schemas.microsoft.com/office/drawing/2014/main" id="{E2EA6940-A6EF-4E1A-B5F3-0ED2810F92B6}"/>
              </a:ext>
            </a:extLst>
          </p:cNvPr>
          <p:cNvSpPr>
            <a:spLocks xmlns:a="http://schemas.openxmlformats.org/drawingml/2006/main" noGrp="1"/>
          </p:cNvSpPr>
          <p:nvPr/>
        </p:nvSpPr>
        <p:spPr>
          <a:xfrm xmlns:a="http://schemas.openxmlformats.org/drawingml/2006/main">
            <a:off x="666750" y="556260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52B28"/>
                </a:solidFill>
                <a:latin typeface="Helvetica Neue"/>
                <a:ea typeface="Helvetica Neue"/>
                <a:cs typeface="Helvetica Neue"/>
              </a:defRPr>
            </a:pPr>
            <a:r>
              <a:rPr sz="2025" b="1">
                <a:solidFill>
                  <a:srgbClr val="252B28"/>
                </a:solidFill>
                <a:latin typeface="Helvetica Neue"/>
                <a:ea typeface="Helvetica Neue"/>
                <a:cs typeface="Helvetica Neue"/>
              </a:rPr>
              <a:t>Live demo: a draft, web research and a verified Linear issue</a:t>
            </a:r>
          </a:p>
        </p:txBody>
      </p:sp>
      <p:sp>
        <p:nvSpPr>
          <p:cNvPr id="9" name="">
            <a:extLst xmlns:a="http://schemas.openxmlformats.org/drawingml/2006/main">
              <a:ext uri="{FF2B5EF4-FFF2-40B4-BE49-F238E27FC236}">
                <a16:creationId xmlns:a16="http://schemas.microsoft.com/office/drawing/2014/main" id="{F70B14AB-6FD0-40A3-A18C-321E234FD207}"/>
              </a:ext>
            </a:extLst>
          </p:cNvPr>
          <p:cNvSpPr>
            <a:spLocks xmlns:a="http://schemas.openxmlformats.org/drawingml/2006/main" noGrp="1"/>
          </p:cNvSpPr>
          <p:nvPr/>
        </p:nvSpPr>
        <p:spPr>
          <a:xfrm xmlns:a="http://schemas.openxmlformats.org/drawingml/2006/main">
            <a:off x="666750" y="61912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45C"/>
                </a:solidFill>
                <a:latin typeface="Helvetica Neue"/>
                <a:ea typeface="Helvetica Neue"/>
                <a:cs typeface="Helvetica Neue"/>
              </a:defRPr>
            </a:pPr>
            <a:r>
              <a:rPr sz="1350" b="0">
                <a:solidFill>
                  <a:srgbClr val="54645C"/>
                </a:solidFill>
                <a:latin typeface="Helvetica Neue"/>
                <a:ea typeface="Helvetica Neue"/>
                <a:cs typeface="Helvetica Neue"/>
              </a:rPr>
              <a:t>Cost comparisons use equivalent token counts, not measured competing runs. Receipt publication has a separate status.</a:t>
            </a:r>
          </a:p>
        </p:txBody>
      </p:sp>
    </p:spTree>
    <p:extLst>
      <p:ext uri="{BB962C8B-B14F-4D97-AF65-F5344CB8AC3E}">
        <p14:creationId xmlns:p14="http://schemas.microsoft.com/office/powerpoint/2010/main" val="1747504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2026-09-26T23:01:23.7900000Z</dcterms:created>
  <dcterms:modified xsi:type="dcterms:W3CDTF">2026-09-26T23:01:23.7900000Z</dcterms:modified>
</coreProperties>
</file>